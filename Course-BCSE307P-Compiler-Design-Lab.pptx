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Golos Text" panose="020B0604020202020204" charset="0"/>
      <p:regular r:id="rId10"/>
    </p:embeddedFont>
    <p:embeddedFont>
      <p:font typeface="Golos Text Medium" panose="020B0604020202020204" charset="0"/>
      <p:regular r:id="rId11"/>
    </p:embeddedFont>
    <p:embeddedFont>
      <p:font typeface="Unbounded Bold" panose="020B0604020202020204" charset="0"/>
      <p:regular r:id="rId12"/>
    </p:embeddedFont>
    <p:embeddedFont>
      <p:font typeface="Unbounded Semi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2866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51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112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80990" y="700098"/>
            <a:ext cx="11378915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08000"/>
              </a:lnSpc>
            </a:pPr>
            <a:r>
              <a:rPr lang="en-US" sz="40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Lexical Analysis Engine for Chat Messages Using DFA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80990" y="1942108"/>
            <a:ext cx="2844729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80990" y="2406610"/>
            <a:ext cx="1137891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06542" y="3760945"/>
            <a:ext cx="11378915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Semester: Fall Semester 2026–2027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Team Members: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0989" y="4710253"/>
            <a:ext cx="11378915" cy="136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Ambuj Mishra (24BCE0340)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cs typeface="Golos Text" pitchFamily="34" charset="-120"/>
              </a:rPr>
              <a:t>Eldo John Giby (24BCE0387)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cs typeface="Golos Text" pitchFamily="34" charset="-120"/>
              </a:rPr>
              <a:t>Ameen S (24BCE0406)</a:t>
            </a:r>
          </a:p>
          <a:p>
            <a:pPr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 err="1">
                <a:solidFill>
                  <a:srgbClr val="FFFFFF"/>
                </a:solidFill>
                <a:latin typeface="Golos Text" pitchFamily="34" charset="0"/>
                <a:cs typeface="Golos Text" pitchFamily="34" charset="-120"/>
              </a:rPr>
              <a:t>Sreedev</a:t>
            </a:r>
            <a:r>
              <a:rPr lang="en-US" sz="1700" dirty="0">
                <a:solidFill>
                  <a:srgbClr val="FFFFFF"/>
                </a:solidFill>
                <a:latin typeface="Golos Text" pitchFamily="34" charset="0"/>
                <a:cs typeface="Golos Text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Golos Text" pitchFamily="34" charset="0"/>
                <a:cs typeface="Golos Text" pitchFamily="34" charset="-120"/>
              </a:rPr>
              <a:t>krishna</a:t>
            </a:r>
            <a:r>
              <a:rPr lang="en-US" sz="1700" dirty="0">
                <a:solidFill>
                  <a:srgbClr val="FFFFFF"/>
                </a:solidFill>
                <a:latin typeface="Golos Text" pitchFamily="34" charset="0"/>
                <a:cs typeface="Golos Text" pitchFamily="34" charset="-120"/>
              </a:rPr>
              <a:t> (24BCE2118)</a:t>
            </a:r>
          </a:p>
          <a:p>
            <a:pPr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cs typeface="Golos Text" pitchFamily="34" charset="-120"/>
              </a:rPr>
              <a:t>John Alex Thomas (24BCE2217)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 / 07</a:t>
            </a:r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E6D011-E0E6-0CB2-BC57-5D70434C321E}"/>
              </a:ext>
            </a:extLst>
          </p:cNvPr>
          <p:cNvSpPr/>
          <p:nvPr/>
        </p:nvSpPr>
        <p:spPr>
          <a:xfrm>
            <a:off x="9411418" y="5433270"/>
            <a:ext cx="2694317" cy="1361463"/>
          </a:xfrm>
          <a:prstGeom prst="rect">
            <a:avLst/>
          </a:prstGeom>
          <a:solidFill>
            <a:srgbClr val="7A1128"/>
          </a:solidFill>
          <a:ln>
            <a:solidFill>
              <a:srgbClr val="7A11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2364" cy="6858000"/>
          </a:xfrm>
          <a:prstGeom prst="rect">
            <a:avLst/>
          </a:prstGeom>
          <a:solidFill>
            <a:srgbClr val="7A11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930352" y="460375"/>
            <a:ext cx="970255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Abstract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930352" y="1111548"/>
            <a:ext cx="9702557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930352" y="1389360"/>
            <a:ext cx="4622684" cy="343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Problem: Modern chats use messy tokens (URLs, mentions, emojis, timestamps). Standard regex tokenizers suffer from catastrophic backtracking (ReDoS) and can freeze servers (O(2ⁿ)).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Proposed Solution: A from-scratch compiler lexical engine using Deterministic Finite Automata (DFA) with zero native regex dependencies.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Approach: Converts 29 chat rules: Regex → AST → Thompson NFA → Master DFA.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10225" y="1389360"/>
            <a:ext cx="4622684" cy="313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Groups 1.1M Unicode points into 74 simple atoms for fast emoji &amp; script handling.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Minimizes states using Moore and Hopcroft algorithms.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Expected Outcome: Guaranteed linear time (O(n)), zero backtracking freezes, clean punctuation handling, and 13+ MB/s throughput with live visual state playback.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416015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775281" y="1389360"/>
            <a:ext cx="12700" cy="511304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 / 07</a:t>
            </a:r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538633-5A15-F879-4223-6845A2EB04BF}"/>
              </a:ext>
            </a:extLst>
          </p:cNvPr>
          <p:cNvSpPr/>
          <p:nvPr/>
        </p:nvSpPr>
        <p:spPr>
          <a:xfrm>
            <a:off x="7694762" y="5865962"/>
            <a:ext cx="4439785" cy="960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2364" cy="6858000"/>
          </a:xfrm>
          <a:prstGeom prst="rect">
            <a:avLst/>
          </a:prstGeom>
          <a:solidFill>
            <a:srgbClr val="7A11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930352" y="460375"/>
            <a:ext cx="970255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930352" y="1111548"/>
            <a:ext cx="9702557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930352" y="1389360"/>
            <a:ext cx="4622684" cy="3788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Background: Lexical analysis (Phase 1 of compiler) converts raw text into structured tokens.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Problem Statement: Chat text is noisy and complex. Traditional regex cascades are slow, error-prone, and insecure.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Why It Matters: Security: Malicious chat inputs can trigger ReDoS and crash server event loops.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Why It Matters: Correctness: Naive tokenizers break on trailing symbols (e.g., https://vit.ac.in. eats the period).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10225" y="1389360"/>
            <a:ext cx="4622684" cy="282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Limitations of Current Tools: Slow: Passes over the same text 20+ times for 20 rules.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Limitations of Current Tools: Unsafe: Worst-case exponential time complexity (O(2ⁿ)).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Limitations of Current Tools: Weak: No proper error recovery on malformed inputs.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416015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775281" y="1389360"/>
            <a:ext cx="12700" cy="485904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 / 07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A20C6C-998E-FAED-B6B5-DB331F3C09ED}"/>
              </a:ext>
            </a:extLst>
          </p:cNvPr>
          <p:cNvSpPr/>
          <p:nvPr/>
        </p:nvSpPr>
        <p:spPr>
          <a:xfrm>
            <a:off x="7694762" y="5865962"/>
            <a:ext cx="4439785" cy="960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257175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Literature Review (10 Recent Studies)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4792" y="908348"/>
            <a:ext cx="11582110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22431"/>
              </p:ext>
            </p:extLst>
          </p:nvPr>
        </p:nvGraphicFramePr>
        <p:xfrm>
          <a:off x="304792" y="1031260"/>
          <a:ext cx="11453013" cy="5415280"/>
        </p:xfrm>
        <a:graphic>
          <a:graphicData uri="http://schemas.openxmlformats.org/drawingml/2006/table">
            <a:tbl>
              <a:tblPr/>
              <a:tblGrid>
                <a:gridCol w="1832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0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7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14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Paper &amp; Year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Venue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Method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Key Finding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Limitation / Gap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Davis et al. (2021)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ACM TOSEM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Empirical test of 400k regexes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Backtracking regexes are erratic and unsafe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Only analyzed bugs; no fix proposed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Zhang et al. (2023)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IEEE S&amp;P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DFA graph cycle detection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Thousands of packages vulnerable to ReDoS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Diagnostic tool only; no replacement lexer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D'Antoni et al. (2021)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CACM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Symbolic character predicates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Compressing alphabets shrinks state size by 90%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Pure theory; lacks lexer token rollback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Wang et al. (2023)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ACM CCS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Derivative automata repair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Removing overlap stops ReDoS freezing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Fixes 1 regex at a time, not a full tokenizer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Shen et al. (2022)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ACM OOPSLA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Direct DFA simulation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DFA matching is 3x–10x faster than regex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Tested only English ASCII; no emojis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Turoňová et al. (2021)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TACAS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Grouped-alphabet Hopcroft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Character atoms make minimization super fast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Tested on models, not real-world text lexers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Loring et al. (2021)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ACM PLDI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Formal semantics comparison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JS regex shortcuts cause memory &amp; freeze bugs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Proof only; no production engine built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Li et al. (2021)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IEEE TSE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Genetic ReDoS exploit search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Inputs under 50 chars can hang regex engines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Focuses on attacking, not solving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Al-Bataineh et al. (2024)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Wiley SPE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Flat array DFA lookup tables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Flat tables run at CPU cache speeds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No support for multilingual text or emojis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Chen et al. (2024)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ACM ICSE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Multi-rule product automata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Merging rules guarantees O(n) linear time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Closed-source; no educational UI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3498" marR="63498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55D89-0B28-4194-8A51-D9C5AB71F716}"/>
              </a:ext>
            </a:extLst>
          </p:cNvPr>
          <p:cNvSpPr/>
          <p:nvPr/>
        </p:nvSpPr>
        <p:spPr>
          <a:xfrm>
            <a:off x="7694762" y="6587973"/>
            <a:ext cx="4439785" cy="213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81686" cy="6858000"/>
          </a:xfrm>
          <a:prstGeom prst="rect">
            <a:avLst/>
          </a:prstGeom>
          <a:solidFill>
            <a:srgbClr val="7A11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89673" y="460375"/>
            <a:ext cx="974323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Summary of the Literature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89673" y="1111548"/>
            <a:ext cx="9743236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89673" y="1389360"/>
            <a:ext cx="431789" cy="431800"/>
          </a:xfrm>
          <a:prstGeom prst="ellipse">
            <a:avLst/>
          </a:prstGeom>
          <a:solidFill>
            <a:srgbClr val="7A1128"/>
          </a:solidFill>
          <a:ln w="19050">
            <a:solidFill>
              <a:srgbClr val="8A6A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473858" y="1398885"/>
            <a:ext cx="41731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Common Techniques: Converting regex to NFAs/DFAs, ReDoS static cycle checking, flat lookup tables.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75588" y="1389360"/>
            <a:ext cx="431789" cy="431800"/>
          </a:xfrm>
          <a:prstGeom prst="ellipse">
            <a:avLst/>
          </a:prstGeom>
          <a:solidFill>
            <a:srgbClr val="7A1128"/>
          </a:solidFill>
          <a:ln w="19050">
            <a:solidFill>
              <a:srgbClr val="8A6A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459774" y="1398885"/>
            <a:ext cx="41731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Strengths: Proves that DFAs mathematically guarantee linear time (O(n)) and prevent freezes.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89673" y="3123307"/>
            <a:ext cx="431789" cy="431800"/>
          </a:xfrm>
          <a:prstGeom prst="ellipse">
            <a:avLst/>
          </a:prstGeom>
          <a:solidFill>
            <a:srgbClr val="7A1128"/>
          </a:solidFill>
          <a:ln w="19050">
            <a:solidFill>
              <a:srgbClr val="8A6A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473858" y="3132832"/>
            <a:ext cx="41731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Common Weaknesses: Studies test only one regex in isolation, not a full multi-rule compiler lexer.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75588" y="3123307"/>
            <a:ext cx="431789" cy="431800"/>
          </a:xfrm>
          <a:prstGeom prst="ellipse">
            <a:avLst/>
          </a:prstGeom>
          <a:solidFill>
            <a:srgbClr val="7A1128"/>
          </a:solidFill>
          <a:ln w="19050">
            <a:solidFill>
              <a:srgbClr val="8A6A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459774" y="3132832"/>
            <a:ext cx="41731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Common Weaknesses: Tested only simple English ASCII, completely ignoring emojis, currency (₹), and Indian scripts.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89673" y="4742954"/>
            <a:ext cx="431789" cy="431800"/>
          </a:xfrm>
          <a:prstGeom prst="ellipse">
            <a:avLst/>
          </a:prstGeom>
          <a:solidFill>
            <a:srgbClr val="7A1128"/>
          </a:solidFill>
          <a:ln w="19050">
            <a:solidFill>
              <a:srgbClr val="8A6A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473858" y="4752479"/>
            <a:ext cx="41731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Common Weaknesses: Checks only match (true/false), without token slicing and punctuation rollback.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75588" y="4742954"/>
            <a:ext cx="431789" cy="431800"/>
          </a:xfrm>
          <a:prstGeom prst="ellipse">
            <a:avLst/>
          </a:prstGeom>
          <a:solidFill>
            <a:srgbClr val="7A1128"/>
          </a:solidFill>
          <a:ln w="19050">
            <a:solidFill>
              <a:srgbClr val="8A6A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459774" y="4752479"/>
            <a:ext cx="417313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Our Solution: A unified engine combining 29 rules, 74 Unicode atoms, maximal munch rollback, and an interactive step-by-step visual dashboard.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75336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754941" y="1389360"/>
            <a:ext cx="12700" cy="1619647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889673" y="3002657"/>
            <a:ext cx="4871618" cy="127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754941" y="3009007"/>
            <a:ext cx="12700" cy="1619647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761291" y="3002657"/>
            <a:ext cx="4871618" cy="127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889673" y="4622304"/>
            <a:ext cx="4871618" cy="127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754941" y="4628654"/>
            <a:ext cx="12700" cy="1619647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761291" y="4622304"/>
            <a:ext cx="4871618" cy="127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05 / 07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5D35BD-3E10-434D-46F8-7577A22572ED}"/>
              </a:ext>
            </a:extLst>
          </p:cNvPr>
          <p:cNvSpPr/>
          <p:nvPr/>
        </p:nvSpPr>
        <p:spPr>
          <a:xfrm>
            <a:off x="7694762" y="5865962"/>
            <a:ext cx="4439785" cy="960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2" cy="6858000"/>
          </a:xfrm>
          <a:prstGeom prst="rect">
            <a:avLst/>
          </a:prstGeom>
          <a:solidFill>
            <a:srgbClr val="7A11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31949" y="460375"/>
            <a:ext cx="960096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31949" y="1111548"/>
            <a:ext cx="9600960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031949" y="1615678"/>
            <a:ext cx="118663" cy="118666"/>
          </a:xfrm>
          <a:prstGeom prst="ellipse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366506" y="1551285"/>
            <a:ext cx="423732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Primary Objective: Build and evaluate a pure DFA-based chat lexer with guaranteed O(n) time and zero ReDoS freezing risk.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61023" y="1615678"/>
            <a:ext cx="118663" cy="118666"/>
          </a:xfrm>
          <a:prstGeom prst="ellipse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395581" y="1551285"/>
            <a:ext cx="423732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Specific Objectives: Automata Pipeline: Compile 29 rules (Regex → AST → Thompson NFA → Master DFA) with rule priority tags.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031949" y="3260725"/>
            <a:ext cx="118663" cy="118666"/>
          </a:xfrm>
          <a:prstGeom prst="ellipse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366506" y="3196332"/>
            <a:ext cx="423732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Specific Objectives: Unicode Chat Support: Compress 1.1M characters into 74 atoms to easily detect links, @mentions, #hashtags, times (5:30pm), currency (₹1,200), and emojis.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61023" y="3260725"/>
            <a:ext cx="118663" cy="118666"/>
          </a:xfrm>
          <a:prstGeom prst="ellipse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395581" y="3196332"/>
            <a:ext cx="423732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Specific Objectives: State Minimization: Implement Moore and Hopcroft algorithms and verify both reach the exact same minimal state count.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031949" y="4905772"/>
            <a:ext cx="118663" cy="118666"/>
          </a:xfrm>
          <a:prstGeom prst="ellipse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366506" y="4841379"/>
            <a:ext cx="926640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Specific Objectives: Robust Lexing &amp; UI: Add maximal-munch rollback, panic-mode error recovery, and an interactive state transition animation.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17612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826079" y="1389360"/>
            <a:ext cx="12700" cy="1645047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031949" y="3028057"/>
            <a:ext cx="4800480" cy="127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826079" y="3034407"/>
            <a:ext cx="12700" cy="1645047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832429" y="3028057"/>
            <a:ext cx="4800480" cy="127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031949" y="4673104"/>
            <a:ext cx="9600960" cy="12700"/>
          </a:xfrm>
          <a:prstGeom prst="rect">
            <a:avLst/>
          </a:prstGeom>
          <a:solidFill>
            <a:srgbClr val="D4AF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06 / 07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6925D2-CFED-E333-1D58-29DC7E93AC67}"/>
              </a:ext>
            </a:extLst>
          </p:cNvPr>
          <p:cNvSpPr/>
          <p:nvPr/>
        </p:nvSpPr>
        <p:spPr>
          <a:xfrm>
            <a:off x="7694762" y="5865962"/>
            <a:ext cx="4439785" cy="960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2268" y="93126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07 / 07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DE2A36-822C-2740-226A-50BCF1B0DCFC}"/>
              </a:ext>
            </a:extLst>
          </p:cNvPr>
          <p:cNvSpPr/>
          <p:nvPr/>
        </p:nvSpPr>
        <p:spPr>
          <a:xfrm>
            <a:off x="8755811" y="6414889"/>
            <a:ext cx="3378736" cy="4114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0BA261-6D85-9610-3FF0-BF7CCD690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847" y="304800"/>
            <a:ext cx="2963340" cy="68896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875</Words>
  <Application>Microsoft Office PowerPoint</Application>
  <PresentationFormat>Widescreen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Unbounded SemiBold</vt:lpstr>
      <vt:lpstr>Arial</vt:lpstr>
      <vt:lpstr>Golos Text Medium</vt:lpstr>
      <vt:lpstr>Unbounded Bold</vt:lpstr>
      <vt:lpstr>Golos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Eldo John Giby</cp:lastModifiedBy>
  <cp:revision>2</cp:revision>
  <dcterms:created xsi:type="dcterms:W3CDTF">2026-10-15T14:36:56Z</dcterms:created>
  <dcterms:modified xsi:type="dcterms:W3CDTF">2026-10-15T14:51:25Z</dcterms:modified>
</cp:coreProperties>
</file>